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Segoe UI"/>
              </a:defRPr>
            </a:pPr>
            <a:r>
              <a:t>Vybe Social Media Platform</a:t>
            </a:r>
          </a:p>
          <a:p>
            <a:pPr>
              <a:spcBef>
                <a:spcPts val="800"/>
              </a:spcBef>
              <a:defRPr sz="2200" b="1">
                <a:solidFill>
                  <a:srgbClr val="8B5CF6"/>
                </a:solidFill>
                <a:latin typeface="Segoe UI"/>
              </a:defRPr>
            </a:pPr>
            <a:r>
              <a:t>Enterprise-Grade Cloud-Native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PROJECT OBJECTIVE &amp; GOAL: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  <a:latin typeface="Segoe UI"/>
              </a:defRPr>
            </a:pPr>
            <a:r>
              <a:t>Migrate from a local containerized development application to a high-availability, fully automated, and monitored AWS Kubernetes environment. The objective is to build a reliable infrastructure capable of scaling real-time chat socket connections, media uploads, and observability feeds globally.</a:t>
            </a:r>
          </a:p>
          <a:p>
            <a:pPr>
              <a:spcBef>
                <a:spcPts val="2500"/>
              </a:spcBef>
              <a:defRPr sz="1400" b="1">
                <a:solidFill>
                  <a:srgbClr val="F8FAFC"/>
                </a:solidFill>
                <a:latin typeface="Segoe UI"/>
              </a:defRPr>
            </a:pPr>
            <a:r>
              <a:t>Presenter: Satish Raut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Segoe UI"/>
              </a:defRPr>
            </a:pPr>
            <a:r>
              <a:t>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Infrastructure as Code (IaC) via Terraform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Core Infrastructure Components:</a:t>
            </a:r>
          </a:p>
          <a:p>
            <a:pPr>
              <a:spcBef>
                <a:spcPts val="12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•  Custom AWS VPC</a:t>
            </a:r>
          </a:p>
          <a:p>
            <a:pPr>
              <a:spcBef>
                <a:spcPts val="3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   Provisioned isolated public and private subnets across multiple availability zones (us-east-1a, us-east-1b) for secure high-availability load balancing.</a:t>
            </a:r>
          </a:p>
          <a:p>
            <a:pPr>
              <a:spcBef>
                <a:spcPts val="12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•  AWS EKS Cluster</a:t>
            </a:r>
          </a:p>
          <a:p>
            <a:pPr>
              <a:spcBef>
                <a:spcPts val="3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   Created a managed Kubernetes deployment cluster using t3.small EC2 worker nodes to host container workloads with IAM security roles.</a:t>
            </a:r>
          </a:p>
          <a:p>
            <a:pPr>
              <a:spcBef>
                <a:spcPts val="12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•  Amazon ECR Registries</a:t>
            </a:r>
          </a:p>
          <a:p>
            <a:pPr>
              <a:spcBef>
                <a:spcPts val="3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   Set up private Elastic Container Registries (ECR) for the React frontend and Node.js backend to host built Docker images.</a:t>
            </a:r>
          </a:p>
          <a:p>
            <a:pPr>
              <a:spcBef>
                <a:spcPts val="2500"/>
              </a:spcBef>
              <a:defRPr sz="1500" b="1">
                <a:solidFill>
                  <a:srgbClr val="8B5CF6"/>
                </a:solidFill>
                <a:latin typeface="Segoe UI"/>
              </a:defRPr>
            </a:pPr>
            <a:r>
              <a:t>Value: Standardized, reproducible infrastructure built cleanly in 15 minutes.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Segoe UI"/>
              </a:defRPr>
            </a:pPr>
            <a:r>
              <a:t>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Automated Continuous Integration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CI/CD Pipeline Flow:</a:t>
            </a:r>
          </a:p>
          <a:p>
            <a:pPr>
              <a:spcBef>
                <a:spcPts val="12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•  GitHub Webhook Trigger</a:t>
            </a:r>
          </a:p>
          <a:p>
            <a:pPr>
              <a:spcBef>
                <a:spcPts val="3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   Pushing code to the main branch automatically calls our dedicated Jenkins EC2 server to trigger a fresh build sequence.</a:t>
            </a:r>
          </a:p>
          <a:p>
            <a:pPr>
              <a:spcBef>
                <a:spcPts val="12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•  Multi-Stage Docker Builds</a:t>
            </a:r>
          </a:p>
          <a:p>
            <a:pPr>
              <a:spcBef>
                <a:spcPts val="3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   Jenkins runs isolated, lightweight Docker builds, compiling the React client inside Nginx and setting up Node.js server runtimes.</a:t>
            </a:r>
          </a:p>
          <a:p>
            <a:pPr>
              <a:spcBef>
                <a:spcPts val="12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•  Rolling Updates to AWS EKS</a:t>
            </a:r>
          </a:p>
          <a:p>
            <a:pPr>
              <a:spcBef>
                <a:spcPts val="3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   Tags fresh images, pushes them to AWS ECR, and applies Kubernetes manifests to EKS with zero deployment downtime.</a:t>
            </a:r>
          </a:p>
          <a:p>
            <a:pPr>
              <a:spcBef>
                <a:spcPts val="2500"/>
              </a:spcBef>
              <a:defRPr sz="1500" b="1">
                <a:solidFill>
                  <a:srgbClr val="8B5CF6"/>
                </a:solidFill>
                <a:latin typeface="Segoe UI"/>
              </a:defRPr>
            </a:pPr>
            <a:r>
              <a:t>Value: True DevOps continuous integration with zero manual steps.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Segoe UI"/>
              </a:defRPr>
            </a:pPr>
            <a:r>
              <a:t>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Resolving Real-World Network &amp; Timeout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Tuning Network &amp; Connection Proxies:</a:t>
            </a:r>
          </a:p>
          <a:p>
            <a:pPr>
              <a:spcBef>
                <a:spcPts val="12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•  Disabling Ingress Proxy Buffering</a:t>
            </a:r>
          </a:p>
          <a:p>
            <a:pPr>
              <a:spcBef>
                <a:spcPts val="3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   Disabled Nginx response buffering via ingress annotations to allow Server-Sent Events (SSE) chat streams to flow instantly to clients without delay.</a:t>
            </a:r>
          </a:p>
          <a:p>
            <a:pPr>
              <a:spcBef>
                <a:spcPts val="12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•  SSE Keep-Alive Heartbeat (Timeout Prevention)</a:t>
            </a:r>
          </a:p>
          <a:p>
            <a:pPr>
              <a:spcBef>
                <a:spcPts val="3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   Implemented a 20-second backend keep-alive heartbeat ping to prevent AWS Load Balancers from dropping idle TCP connections, fixing ERR_INCOMPLETE_CHUNKED_ENCODING errors.</a:t>
            </a:r>
          </a:p>
          <a:p>
            <a:pPr>
              <a:spcBef>
                <a:spcPts val="12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•  Nginx Client Body Limit Expansion</a:t>
            </a:r>
          </a:p>
          <a:p>
            <a:pPr>
              <a:spcBef>
                <a:spcPts val="3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   Configured 'proxy-body-size: 50m' annotation in the Ingress manifest to allow large media uploads, bypassing the default 1MB restriction.</a:t>
            </a:r>
          </a:p>
          <a:p>
            <a:pPr>
              <a:spcBef>
                <a:spcPts val="2500"/>
              </a:spcBef>
              <a:defRPr sz="1500" b="1">
                <a:solidFill>
                  <a:srgbClr val="8B5CF6"/>
                </a:solidFill>
                <a:latin typeface="Segoe UI"/>
              </a:defRPr>
            </a:pPr>
            <a:r>
              <a:t>Value: Custom proxy tuning to match real-world distributed messaging states.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Segoe UI"/>
              </a:defRPr>
            </a:pPr>
            <a:r>
              <a:t>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Cluster Observability &amp; Metrics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Monitoring Stack Architecture:</a:t>
            </a:r>
          </a:p>
          <a:p>
            <a:pPr>
              <a:spcBef>
                <a:spcPts val="12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•  Helm Deployment Stack</a:t>
            </a:r>
          </a:p>
          <a:p>
            <a:pPr>
              <a:spcBef>
                <a:spcPts val="3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   Deployed the community-verified 'kube-prometheus-stack' Helm Chart inside a dedicated namespace, spinning up node exporters, state metrics, and the visual dashboards.</a:t>
            </a:r>
          </a:p>
          <a:p>
            <a:pPr>
              <a:spcBef>
                <a:spcPts val="12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•  Data Collection and Scrapes</a:t>
            </a:r>
          </a:p>
          <a:p>
            <a:pPr>
              <a:spcBef>
                <a:spcPts val="3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   Prometheus dynamically gathers CPU limits, memory quotas, and network inputs from every pod, storing them as time-series metrics.</a:t>
            </a:r>
          </a:p>
          <a:p>
            <a:pPr>
              <a:spcBef>
                <a:spcPts val="12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•  Grafana Analytics Console</a:t>
            </a:r>
          </a:p>
          <a:p>
            <a:pPr>
              <a:spcBef>
                <a:spcPts val="3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   Configured interactive visual dashboards linked to Prometheus data-sources, allowing operators to monitor memory limits and CPU utilization in real-time.</a:t>
            </a:r>
          </a:p>
          <a:p>
            <a:pPr>
              <a:spcBef>
                <a:spcPts val="2500"/>
              </a:spcBef>
              <a:defRPr sz="1500" b="1">
                <a:solidFill>
                  <a:srgbClr val="8B5CF6"/>
                </a:solidFill>
                <a:latin typeface="Segoe UI"/>
              </a:defRPr>
            </a:pPr>
            <a:r>
              <a:t>Value: Enterprise-grade cluster health reporting.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Segoe UI"/>
              </a:defRPr>
            </a:pPr>
            <a:r>
              <a:t>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Production Deliverables &amp;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Live Staging Environment Details:</a:t>
            </a:r>
          </a:p>
          <a:p>
            <a:pPr>
              <a:spcBef>
                <a:spcPts val="12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•  Live Global Website</a:t>
            </a:r>
          </a:p>
          <a:p>
            <a:pPr>
              <a:spcBef>
                <a:spcPts val="3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   Staging site hosted at: http://www.bestvybe.live (Connected via CNAME pointing to our AWS Elastic Load Balancer).</a:t>
            </a:r>
          </a:p>
          <a:p>
            <a:pPr>
              <a:spcBef>
                <a:spcPts val="12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•  Observability Link</a:t>
            </a:r>
          </a:p>
          <a:p>
            <a:pPr>
              <a:spcBef>
                <a:spcPts val="3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   Grafana dashboards running at http://localhost:3100 (Connected via secure local port-forwarding).</a:t>
            </a:r>
          </a:p>
          <a:p>
            <a:pPr>
              <a:spcBef>
                <a:spcPts val="12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•  Clean Resource Teardown</a:t>
            </a:r>
          </a:p>
          <a:p>
            <a:pPr>
              <a:spcBef>
                <a:spcPts val="3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   Execution of 'terraform destroy' will cleanly decommission the entire infrastructure when staging presentation is complete.</a:t>
            </a:r>
          </a:p>
          <a:p>
            <a:pPr>
              <a:spcBef>
                <a:spcPts val="3000"/>
              </a:spcBef>
              <a:defRPr sz="1800" b="1">
                <a:solidFill>
                  <a:srgbClr val="8B5CF6"/>
                </a:solidFill>
                <a:latin typeface="Segoe UI"/>
              </a:defRPr>
            </a:pPr>
            <a:r>
              <a:t>Thank you! Open for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